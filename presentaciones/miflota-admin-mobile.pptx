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640080"/>
            <a:ext cx="603504" cy="603504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4652"/>
            <a:ext cx="603504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4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7DCA8"/>
                </a:solidFill>
                <a:latin typeface="Aptos Display"/>
              </a:rPr>
              <a:t>PRESENTACIÓN DE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6583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DF8"/>
                </a:solidFill>
                <a:latin typeface="Plus Jakarta Sans"/>
              </a:rPr>
              <a:t>MiFlota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514600"/>
            <a:ext cx="6217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F7DCA8"/>
                </a:solidFill>
                <a:latin typeface="Plus Jakarta Sans"/>
              </a:rPr>
              <a:t>El control de la flota, en el bolsillo del dueño.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3337560"/>
            <a:ext cx="2468880" cy="36576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3342132"/>
            <a:ext cx="2432304" cy="3566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16150F"/>
                </a:solidFill>
                <a:latin typeface="Plus Jakarta Sans"/>
              </a:rPr>
              <a:t>App móvil para administradores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941832"/>
            <a:ext cx="2743200" cy="544068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54112" y="1097280"/>
            <a:ext cx="2505456" cy="5157216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50808" y="1005840"/>
            <a:ext cx="512064" cy="10972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00415" y="1335024"/>
            <a:ext cx="27432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0415" y="1339595"/>
            <a:ext cx="274320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1371600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MiFlota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2" y="1362456"/>
            <a:ext cx="566928" cy="219456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6840" y="1367028"/>
            <a:ext cx="530352" cy="21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8A5D16"/>
                </a:solidFill>
                <a:latin typeface="Plus Jakarta Sans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1783080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Buen día, Martín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8704" y="2057400"/>
            <a:ext cx="219456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Tu flota en un vistazo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2423160"/>
            <a:ext cx="2194560" cy="82296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5008" y="256946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6150F"/>
                </a:solidFill>
                <a:latin typeface="Plus Jakarta Sans"/>
              </a:rPr>
              <a:t>$ 18.4M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289864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6150F"/>
                </a:solidFill>
                <a:latin typeface="Plus Jakarta Sans"/>
              </a:rPr>
              <a:t>neto del 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3575304"/>
            <a:ext cx="2194560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28431" y="3666744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Cobros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666744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256B4D"/>
                </a:solidFill>
                <a:latin typeface="Plus Jakarta Sans"/>
              </a:rPr>
              <a:t>$ 4.2M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4050791"/>
            <a:ext cx="2194560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28431" y="4142231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Gastos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142231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914531"/>
                </a:solidFill>
                <a:latin typeface="Plus Jakarta Sans"/>
              </a:rPr>
              <a:t>$ 1.6M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4526280"/>
            <a:ext cx="2194560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28431" y="461772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Salud de flota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461772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A5D16"/>
                </a:solidFill>
                <a:latin typeface="Plus Jakarta Sans"/>
              </a:rPr>
              <a:t>92%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5769864"/>
            <a:ext cx="2194560" cy="310896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91856" y="5852160"/>
            <a:ext cx="2029967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F4F0E8"/>
                </a:solidFill>
                <a:latin typeface="Plus Jakarta Sans"/>
              </a:rPr>
              <a:t>Inicio     Flota     Más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596188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E8A13A"/>
                </a:solidFill>
                <a:latin typeface="Plus Jakarta Sans"/>
              </a:rPr>
              <a:t>VISTA · REGISTRO · ASISTENTE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Admin mobile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D16"/>
                </a:solidFill>
                <a:latin typeface="Aptos Display"/>
              </a:rPr>
              <a:t>01 · LA OPORTUNIDAD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6150F"/>
                </a:solidFill>
                <a:latin typeface="Plus Jakarta Sans"/>
              </a:rPr>
              <a:t>Administrar sin esperar a estar frente a una 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46F65"/>
                </a:solidFill>
                <a:latin typeface="Plus Jakarta Sans"/>
              </a:rPr>
              <a:t>La información clave acompaña al dueño durante toda la jornada.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46F65"/>
                </a:solidFill>
                <a:latin typeface="Plus Jakarta San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783080"/>
            <a:ext cx="2423160" cy="480060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1938528"/>
            <a:ext cx="2185415" cy="4517136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14499" y="1847088"/>
            <a:ext cx="512064" cy="10972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4127" y="2176272"/>
            <a:ext cx="27432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7" y="2180844"/>
            <a:ext cx="274320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12848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MiFlota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12264" y="2203704"/>
            <a:ext cx="566928" cy="219456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30552" y="2208276"/>
            <a:ext cx="530352" cy="21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8A5D16"/>
                </a:solidFill>
                <a:latin typeface="Plus Jakarta Sans"/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2624328"/>
            <a:ext cx="18745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Buen día, Martín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2898648"/>
            <a:ext cx="1874519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Tu flota en un vistazo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1" y="3264408"/>
            <a:ext cx="1874519" cy="82296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19" y="3410712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6150F"/>
                </a:solidFill>
                <a:latin typeface="Plus Jakarta Sans"/>
              </a:rPr>
              <a:t>$ 18.4M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3739896"/>
            <a:ext cx="1600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6150F"/>
                </a:solidFill>
                <a:latin typeface="Plus Jakarta Sans"/>
              </a:rPr>
              <a:t>neto del 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1" y="4416552"/>
            <a:ext cx="1874519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2144" y="4507992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Cobros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7712" y="450799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256B4D"/>
                </a:solidFill>
                <a:latin typeface="Plus Jakarta Sans"/>
              </a:rPr>
              <a:t>$ 4.2M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1" y="4892040"/>
            <a:ext cx="1874519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52144" y="4983479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Gastos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67712" y="4983479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914531"/>
                </a:solidFill>
                <a:latin typeface="Plus Jakarta Sans"/>
              </a:rPr>
              <a:t>$ 1.6M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1" y="5367528"/>
            <a:ext cx="1874519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52144" y="545896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Salud de flota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545896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A5D16"/>
                </a:solidFill>
                <a:latin typeface="Plus Jakarta Sans"/>
              </a:rPr>
              <a:t>92%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3271" y="5971032"/>
            <a:ext cx="1874519" cy="310896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5568" y="6053328"/>
            <a:ext cx="170992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F4F0E8"/>
                </a:solidFill>
                <a:latin typeface="Plus Jakarta Sans"/>
              </a:rPr>
              <a:t>Inicio     Flota     Más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1874519"/>
            <a:ext cx="347472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023360" y="2057400"/>
            <a:ext cx="384048" cy="25603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41648" y="2061972"/>
            <a:ext cx="347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468879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Resumen en segundos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807208"/>
            <a:ext cx="310896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Neto, cobros, gastos y salud de flota en una pantalla.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0" y="3502152"/>
            <a:ext cx="347472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023360" y="3685032"/>
            <a:ext cx="384048" cy="256032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41648" y="3689604"/>
            <a:ext cx="347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409651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Registrar donde ocurre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4434840"/>
            <a:ext cx="310896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Cobros y gastos con comprobante, sin volver a la oficina.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99248" y="1874519"/>
            <a:ext cx="347472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7882127" y="2057400"/>
            <a:ext cx="384048" cy="256032"/>
          </a:xfrm>
          <a:prstGeom prst="round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0415" y="2061972"/>
            <a:ext cx="347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2468879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Encontrar lo importante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2807208"/>
            <a:ext cx="310896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Búsqueda global, filtros y acceso directo al detalle.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99248" y="3502152"/>
            <a:ext cx="3474720" cy="14173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882127" y="3685032"/>
            <a:ext cx="384048" cy="25603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00415" y="3689604"/>
            <a:ext cx="347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82127" y="4096512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Preguntar a MiFlota IA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82127" y="4434840"/>
            <a:ext cx="3108960" cy="356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Respuestas con tarjetas, tablas y filtros tocables.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67912" y="5440680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6150F"/>
                </a:solidFill>
                <a:latin typeface="Plus Jakarta Sans"/>
              </a:rPr>
              <a:t>La app no reemplaza el criterio del dueño: le da contexto antes.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Admin mobile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E8A13A"/>
                </a:solidFill>
                <a:latin typeface="Aptos Display"/>
              </a:rPr>
              <a:t>02 · FLUJO DIARIO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FFFDF8"/>
                </a:solidFill>
                <a:latin typeface="Plus Jakarta Sans"/>
              </a:rPr>
              <a:t>Cinco gestos para mantener la operación al día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F7DCA8"/>
                </a:solidFill>
                <a:latin typeface="Plus Jakarta Sans"/>
              </a:rPr>
              <a:t>Diseñada para consultar, registrar y volver a la ruta.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7DCA8"/>
                </a:solidFill>
                <a:latin typeface="Plus Jakarta San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61488"/>
            <a:ext cx="1627632" cy="12801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2953512"/>
            <a:ext cx="384048" cy="265176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958084"/>
            <a:ext cx="347472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6499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150F"/>
                </a:solidFill>
                <a:latin typeface="Plus Jakarta Sans"/>
              </a:rPr>
              <a:t>Abrir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666744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746F65"/>
                </a:solidFill>
                <a:latin typeface="Plus Jakarta Sans"/>
              </a:rPr>
              <a:t>Dashboard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59152" y="3410712"/>
            <a:ext cx="539496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71800" y="2761488"/>
            <a:ext cx="1627632" cy="12801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136392" y="2953512"/>
            <a:ext cx="384048" cy="265176"/>
          </a:xfrm>
          <a:prstGeom prst="round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54680" y="2958084"/>
            <a:ext cx="347472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336499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150F"/>
                </a:solidFill>
                <a:latin typeface="Plus Jakarta Sans"/>
              </a:rPr>
              <a:t>Revisar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3666744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746F65"/>
                </a:solidFill>
                <a:latin typeface="Plus Jakarta Sans"/>
              </a:rPr>
              <a:t>alerta o saldo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72584" y="3410712"/>
            <a:ext cx="539496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85232" y="2761488"/>
            <a:ext cx="1627632" cy="12801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49824" y="2953512"/>
            <a:ext cx="384048" cy="265176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68112" y="2958084"/>
            <a:ext cx="347472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9824" y="336499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150F"/>
                </a:solidFill>
                <a:latin typeface="Plus Jakarta Sans"/>
              </a:rPr>
              <a:t>Registrar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9824" y="3666744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746F65"/>
                </a:solidFill>
                <a:latin typeface="Plus Jakarta Sans"/>
              </a:rPr>
              <a:t>cobro / gasto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86016" y="3410712"/>
            <a:ext cx="539496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98664" y="2761488"/>
            <a:ext cx="1627632" cy="12801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63256" y="2953512"/>
            <a:ext cx="384048" cy="265176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81544" y="2958084"/>
            <a:ext cx="347472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36499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150F"/>
                </a:solidFill>
                <a:latin typeface="Plus Jakarta Sans"/>
              </a:rPr>
              <a:t>Filtrar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3256" y="3666744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746F65"/>
                </a:solidFill>
                <a:latin typeface="Plus Jakarta Sans"/>
              </a:rPr>
              <a:t>detalle exacto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99448" y="3410712"/>
            <a:ext cx="539496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912096" y="2761488"/>
            <a:ext cx="1627632" cy="128016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76688" y="2953512"/>
            <a:ext cx="384048" cy="265176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4976" y="2958084"/>
            <a:ext cx="347472" cy="2560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6688" y="3364992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6150F"/>
                </a:solidFill>
                <a:latin typeface="Plus Jakarta Sans"/>
              </a:rPr>
              <a:t>Preguntar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3666744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10" b="0" i="0">
                <a:solidFill>
                  <a:srgbClr val="746F65"/>
                </a:solidFill>
                <a:latin typeface="Plus Jakarta Sans"/>
              </a:rPr>
              <a:t>MiFlota 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89204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F7DCA8"/>
                </a:solidFill>
                <a:latin typeface="Plus Jakarta Sans"/>
              </a:rPr>
              <a:t>La app mantiene la velocidad de la operación sin sacrificar trazabilidad.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3960" y="4773168"/>
            <a:ext cx="1325880" cy="329184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42248" y="4777740"/>
            <a:ext cx="1289304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8A5D16"/>
                </a:solidFill>
                <a:latin typeface="Plus Jakarta Sans"/>
              </a:rPr>
              <a:t>mobile-first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Admin mobile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D16"/>
                </a:solidFill>
                <a:latin typeface="Aptos Display"/>
              </a:rPr>
              <a:t>03 ·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6150F"/>
                </a:solidFill>
                <a:latin typeface="Plus Jakarta Sans"/>
              </a:rPr>
              <a:t>Una interfaz pensada para tocar y decidir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92131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dirty="0" err="1">
                <a:solidFill>
                  <a:srgbClr val="746F65"/>
                </a:solidFill>
                <a:latin typeface="Plus Jakarta Sans"/>
              </a:rPr>
              <a:t>Jerarquía</a:t>
            </a:r>
            <a:r>
              <a:rPr sz="1250" b="0" i="0" dirty="0">
                <a:solidFill>
                  <a:srgbClr val="746F65"/>
                </a:solidFill>
                <a:latin typeface="Plus Jakarta Sans"/>
              </a:rPr>
              <a:t> </a:t>
            </a:r>
            <a:r>
              <a:rPr sz="1250" b="0" i="0" dirty="0" err="1">
                <a:solidFill>
                  <a:srgbClr val="746F65"/>
                </a:solidFill>
                <a:latin typeface="Plus Jakarta Sans"/>
              </a:rPr>
              <a:t>clara</a:t>
            </a:r>
            <a:r>
              <a:rPr sz="1250" b="0" i="0" dirty="0">
                <a:solidFill>
                  <a:srgbClr val="746F65"/>
                </a:solidFill>
                <a:latin typeface="Plus Jakarta Sans"/>
              </a:rPr>
              <a:t>, </a:t>
            </a:r>
            <a:r>
              <a:rPr sz="1250" b="0" i="0" dirty="0" err="1">
                <a:solidFill>
                  <a:srgbClr val="746F65"/>
                </a:solidFill>
                <a:latin typeface="Plus Jakarta Sans"/>
              </a:rPr>
              <a:t>acciones</a:t>
            </a:r>
            <a:r>
              <a:rPr sz="1250" b="0" i="0" dirty="0">
                <a:solidFill>
                  <a:srgbClr val="746F65"/>
                </a:solidFill>
                <a:latin typeface="Plus Jakarta Sans"/>
              </a:rPr>
              <a:t> </a:t>
            </a:r>
            <a:r>
              <a:rPr sz="1250" b="0" i="0" dirty="0" err="1">
                <a:solidFill>
                  <a:srgbClr val="746F65"/>
                </a:solidFill>
                <a:latin typeface="Plus Jakarta Sans"/>
              </a:rPr>
              <a:t>directas</a:t>
            </a:r>
            <a:r>
              <a:rPr sz="1250" b="0" i="0" dirty="0">
                <a:solidFill>
                  <a:srgbClr val="746F65"/>
                </a:solidFill>
                <a:latin typeface="Plus Jakarta Sans"/>
              </a:rPr>
              <a:t> y </a:t>
            </a:r>
            <a:r>
              <a:rPr sz="1250" b="0" i="0" dirty="0" err="1">
                <a:solidFill>
                  <a:srgbClr val="746F65"/>
                </a:solidFill>
                <a:latin typeface="Plus Jakarta Sans"/>
              </a:rPr>
              <a:t>detalle</a:t>
            </a:r>
            <a:r>
              <a:rPr sz="1250" b="0" i="0" dirty="0">
                <a:solidFill>
                  <a:srgbClr val="746F65"/>
                </a:solidFill>
                <a:latin typeface="Plus Jakarta Sans"/>
              </a:rPr>
              <a:t> </a:t>
            </a:r>
            <a:r>
              <a:rPr sz="1250" b="0" i="0" dirty="0" err="1">
                <a:solidFill>
                  <a:srgbClr val="746F65"/>
                </a:solidFill>
                <a:latin typeface="Plus Jakarta Sans"/>
              </a:rPr>
              <a:t>cuando</a:t>
            </a:r>
            <a:r>
              <a:rPr sz="1250" b="0" i="0" dirty="0">
                <a:solidFill>
                  <a:srgbClr val="746F65"/>
                </a:solidFill>
                <a:latin typeface="Plus Jakarta Sans"/>
              </a:rPr>
              <a:t> </a:t>
            </a:r>
            <a:r>
              <a:rPr sz="1250" b="0" i="0" dirty="0" err="1">
                <a:solidFill>
                  <a:srgbClr val="746F65"/>
                </a:solidFill>
                <a:latin typeface="Plus Jakarta Sans"/>
              </a:rPr>
              <a:t>hace</a:t>
            </a:r>
            <a:r>
              <a:rPr sz="1250" b="0" i="0" dirty="0">
                <a:solidFill>
                  <a:srgbClr val="746F65"/>
                </a:solidFill>
                <a:latin typeface="Plus Jakarta Sans"/>
              </a:rPr>
              <a:t> </a:t>
            </a:r>
            <a:r>
              <a:rPr sz="1250" b="0" i="0" dirty="0" err="1">
                <a:solidFill>
                  <a:srgbClr val="746F65"/>
                </a:solidFill>
                <a:latin typeface="Plus Jakarta Sans"/>
              </a:rPr>
              <a:t>falta</a:t>
            </a:r>
            <a:r>
              <a:rPr sz="1250" b="0" i="0" dirty="0">
                <a:solidFill>
                  <a:srgbClr val="746F65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46F65"/>
                </a:solidFill>
                <a:latin typeface="Plus Jakarta San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691640"/>
            <a:ext cx="2267712" cy="461772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0664" y="1847088"/>
            <a:ext cx="2029967" cy="4334256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499616" y="1755648"/>
            <a:ext cx="512064" cy="10972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6968" y="2084832"/>
            <a:ext cx="27432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089404"/>
            <a:ext cx="274320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21408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MiFlota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75104" y="2112264"/>
            <a:ext cx="566928" cy="219456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93392" y="2116836"/>
            <a:ext cx="530352" cy="21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8A5D16"/>
                </a:solidFill>
                <a:latin typeface="Plus Jakarta Sans"/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532888"/>
            <a:ext cx="17190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Buen día, Martín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2807208"/>
            <a:ext cx="17190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Tu flota en un vistazo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3172968"/>
            <a:ext cx="1719072" cy="82296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3319272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6150F"/>
                </a:solidFill>
                <a:latin typeface="Plus Jakarta Sans"/>
              </a:rPr>
              <a:t>$ 18.4M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3648456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6150F"/>
                </a:solidFill>
                <a:latin typeface="Plus Jakarta Sans"/>
              </a:rPr>
              <a:t>neto del 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4325112"/>
            <a:ext cx="171907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" y="4416552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Cobros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30552" y="441655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256B4D"/>
                </a:solidFill>
                <a:latin typeface="Plus Jakarta Sans"/>
              </a:rPr>
              <a:t>$ 4.2M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" y="4800600"/>
            <a:ext cx="171907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" y="489204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Gastos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0552" y="489204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914531"/>
                </a:solidFill>
                <a:latin typeface="Plus Jakarta Sans"/>
              </a:rPr>
              <a:t>$ 1.6M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" y="5276088"/>
            <a:ext cx="171907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4984" y="536752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Salud de flota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0552" y="536752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A5D16"/>
                </a:solidFill>
                <a:latin typeface="Plus Jakarta Sans"/>
              </a:rPr>
              <a:t>92%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" y="5696712"/>
            <a:ext cx="1719072" cy="310896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" y="5779008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F4F0E8"/>
                </a:solidFill>
                <a:latin typeface="Plus Jakarta Sans"/>
              </a:rPr>
              <a:t>Inicio     Flota     Más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1691640"/>
            <a:ext cx="2267712" cy="461772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456432" y="1847088"/>
            <a:ext cx="2029967" cy="4334256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215383" y="1755648"/>
            <a:ext cx="512064" cy="10972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602736" y="2084832"/>
            <a:ext cx="27432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02736" y="2089404"/>
            <a:ext cx="274320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0208" y="2121408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MiFlota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90872" y="2112264"/>
            <a:ext cx="566928" cy="219456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09159" y="2116836"/>
            <a:ext cx="530352" cy="21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8A5D16"/>
                </a:solidFill>
                <a:latin typeface="Plus Jakarta Sans"/>
              </a:rPr>
              <a:t>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79" y="2532888"/>
            <a:ext cx="17190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Buen día, Martín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21024" y="2807208"/>
            <a:ext cx="17190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Tu flota en un vistazo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11879" y="3172968"/>
            <a:ext cx="1719072" cy="822960"/>
          </a:xfrm>
          <a:prstGeom prst="round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67328" y="3319272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6150F"/>
                </a:solidFill>
                <a:latin typeface="Plus Jakarta Sans"/>
              </a:rPr>
              <a:t>$ 18.4M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76472" y="3648456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6150F"/>
                </a:solidFill>
                <a:latin typeface="Plus Jakarta Sans"/>
              </a:rPr>
              <a:t>neto del mes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11879" y="4325112"/>
            <a:ext cx="171907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30752" y="4416552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Cobros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41655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256B4D"/>
                </a:solidFill>
                <a:latin typeface="Plus Jakarta Sans"/>
              </a:rPr>
              <a:t>$ 4.2M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11879" y="4800600"/>
            <a:ext cx="171907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30752" y="489204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Gastos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489204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914531"/>
                </a:solidFill>
                <a:latin typeface="Plus Jakarta Sans"/>
              </a:rPr>
              <a:t>$ 1.6M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11879" y="5276088"/>
            <a:ext cx="171907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30752" y="536752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Salud de flota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6320" y="536752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A5D16"/>
                </a:solidFill>
                <a:latin typeface="Plus Jakarta Sans"/>
              </a:rPr>
              <a:t>92%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11879" y="5696712"/>
            <a:ext cx="1719072" cy="310896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94176" y="5779008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F4F0E8"/>
                </a:solidFill>
                <a:latin typeface="Plus Jakarta Sans"/>
              </a:rPr>
              <a:t>Inicio     Flota     Más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53328" y="1691640"/>
            <a:ext cx="2267712" cy="461772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172200" y="1847088"/>
            <a:ext cx="2029967" cy="4334256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931152" y="1755648"/>
            <a:ext cx="512064" cy="10972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318504" y="2084832"/>
            <a:ext cx="274320" cy="274320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18504" y="2089404"/>
            <a:ext cx="274320" cy="2651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65976" y="2121408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16150F"/>
                </a:solidFill>
                <a:latin typeface="Plus Jakarta Sans"/>
              </a:rPr>
              <a:t>MiFlota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06640" y="2112264"/>
            <a:ext cx="566928" cy="219456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24927" y="2116836"/>
            <a:ext cx="530352" cy="2103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8A5D16"/>
                </a:solidFill>
                <a:latin typeface="Plus Jakarta Sans"/>
              </a:rPr>
              <a:t>ADMIN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27648" y="2532888"/>
            <a:ext cx="17190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Buen día, Martín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6792" y="2807208"/>
            <a:ext cx="171907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746F65"/>
                </a:solidFill>
                <a:latin typeface="Plus Jakarta Sans"/>
              </a:rPr>
              <a:t>Tu flota en un vistazo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27648" y="3172968"/>
            <a:ext cx="1719072" cy="822960"/>
          </a:xfrm>
          <a:prstGeom prst="round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83096" y="3319272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6150F"/>
                </a:solidFill>
                <a:latin typeface="Plus Jakarta Sans"/>
              </a:rPr>
              <a:t>$ 18.4M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3648456"/>
            <a:ext cx="144475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16150F"/>
                </a:solidFill>
                <a:latin typeface="Plus Jakarta Sans"/>
              </a:rPr>
              <a:t>neto del mes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327648" y="4325112"/>
            <a:ext cx="171907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46520" y="4416552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Cobros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62088" y="441655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256B4D"/>
                </a:solidFill>
                <a:latin typeface="Plus Jakarta Sans"/>
              </a:rPr>
              <a:t>$ 4.2M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27648" y="4800600"/>
            <a:ext cx="171907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446520" y="4892040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Gastos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62088" y="4892040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914531"/>
                </a:solidFill>
                <a:latin typeface="Plus Jakarta Sans"/>
              </a:rPr>
              <a:t>$ 1.6M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327648" y="5276088"/>
            <a:ext cx="1719072" cy="347472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46520" y="5367528"/>
            <a:ext cx="11887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" b="0" i="0">
                <a:solidFill>
                  <a:srgbClr val="746F65"/>
                </a:solidFill>
                <a:latin typeface="Plus Jakarta Sans"/>
              </a:rPr>
              <a:t>Salud de flota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62088" y="5367528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>
                <a:solidFill>
                  <a:srgbClr val="8A5D16"/>
                </a:solidFill>
                <a:latin typeface="Plus Jakarta Sans"/>
              </a:rPr>
              <a:t>92%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27648" y="5696712"/>
            <a:ext cx="1719072" cy="310896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09944" y="5779008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0">
                <a:solidFill>
                  <a:srgbClr val="F4F0E8"/>
                </a:solidFill>
                <a:latin typeface="Plus Jakarta Sans"/>
              </a:rPr>
              <a:t>Inicio     Flota     Más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887968" y="1856231"/>
            <a:ext cx="2359152" cy="429768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89720" y="2194560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E8A13A"/>
                </a:solidFill>
                <a:latin typeface="Aptos Display"/>
              </a:rPr>
              <a:t>MOMENTOS CLAVE</a:t>
            </a:r>
          </a:p>
        </p:txBody>
      </p:sp>
      <p:sp>
        <p:nvSpPr>
          <p:cNvPr id="82" name="Oval 81"/>
          <p:cNvSpPr/>
          <p:nvPr/>
        </p:nvSpPr>
        <p:spPr>
          <a:xfrm>
            <a:off x="9171432" y="2761488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336024" y="2679192"/>
            <a:ext cx="1618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DF8"/>
                </a:solidFill>
                <a:latin typeface="Plus Jakarta Sans"/>
              </a:rPr>
              <a:t>Dashboard: entender el estado.</a:t>
            </a:r>
          </a:p>
        </p:txBody>
      </p:sp>
      <p:sp>
        <p:nvSpPr>
          <p:cNvPr id="84" name="Oval 83"/>
          <p:cNvSpPr/>
          <p:nvPr/>
        </p:nvSpPr>
        <p:spPr>
          <a:xfrm>
            <a:off x="9171432" y="3200400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336024" y="3118104"/>
            <a:ext cx="1618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DF8"/>
                </a:solidFill>
                <a:latin typeface="Plus Jakarta Sans"/>
              </a:rPr>
              <a:t>Flota: entrar al detalle.</a:t>
            </a:r>
          </a:p>
        </p:txBody>
      </p:sp>
      <p:sp>
        <p:nvSpPr>
          <p:cNvPr id="86" name="Oval 85"/>
          <p:cNvSpPr/>
          <p:nvPr/>
        </p:nvSpPr>
        <p:spPr>
          <a:xfrm>
            <a:off x="9171432" y="3639312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336024" y="3557016"/>
            <a:ext cx="1618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DF8"/>
                </a:solidFill>
                <a:latin typeface="Plus Jakarta Sans"/>
              </a:rPr>
              <a:t>Registrar: dejar evidencia.</a:t>
            </a:r>
          </a:p>
        </p:txBody>
      </p:sp>
      <p:sp>
        <p:nvSpPr>
          <p:cNvPr id="88" name="Oval 87"/>
          <p:cNvSpPr/>
          <p:nvPr/>
        </p:nvSpPr>
        <p:spPr>
          <a:xfrm>
            <a:off x="9171432" y="4078224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336024" y="3995928"/>
            <a:ext cx="1618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DF8"/>
                </a:solidFill>
                <a:latin typeface="Plus Jakarta Sans"/>
              </a:rPr>
              <a:t>Ranking: comparar rendimiento.</a:t>
            </a:r>
          </a:p>
        </p:txBody>
      </p:sp>
      <p:sp>
        <p:nvSpPr>
          <p:cNvPr id="90" name="Oval 89"/>
          <p:cNvSpPr/>
          <p:nvPr/>
        </p:nvSpPr>
        <p:spPr>
          <a:xfrm>
            <a:off x="9171432" y="4517136"/>
            <a:ext cx="91440" cy="91440"/>
          </a:xfrm>
          <a:prstGeom prst="ellipse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336024" y="4434840"/>
            <a:ext cx="1618488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FFFDF8"/>
                </a:solidFill>
                <a:latin typeface="Plus Jakarta Sans"/>
              </a:rPr>
              <a:t>IA: preguntar con lenguaje natural.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Admin mobile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FFFDF8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E8A13A"/>
                </a:solidFill>
                <a:latin typeface="Aptos Display"/>
              </a:rPr>
              <a:t>04 · MIFLOTA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FFFDF8"/>
                </a:solidFill>
                <a:latin typeface="Plus Jakarta Sans"/>
              </a:rPr>
              <a:t>Preguntas simples, respuestas accionables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F7DCA8"/>
                </a:solidFill>
                <a:latin typeface="Plus Jakarta Sans"/>
              </a:rPr>
              <a:t>La respuesta no termina en texto: abre el siguiente paso.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F7DCA8"/>
                </a:solidFill>
                <a:latin typeface="Plus Jakarta San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572000" cy="315468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D16"/>
                </a:solidFill>
                <a:latin typeface="Aptos Display"/>
              </a:rPr>
              <a:t>EJEMPLO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6150F"/>
                </a:solidFill>
                <a:latin typeface="Plus Jakarta Sans"/>
              </a:rPr>
              <a:t>¿Cuánto debe Diego Rotela?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200400"/>
            <a:ext cx="3931920" cy="1051560"/>
          </a:xfrm>
          <a:prstGeom prst="roundRect">
            <a:avLst/>
          </a:prstGeom>
          <a:solidFill>
            <a:srgbClr val="F4F0E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341985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Diego Rotela debe $ 1.080.000.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785615"/>
            <a:ext cx="3520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746F65"/>
                </a:solidFill>
                <a:latin typeface="Plus Jakarta Sans"/>
              </a:rPr>
              <a:t>La deuda más antigua es del 07 ago 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590288"/>
            <a:ext cx="1170432" cy="292608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4594859"/>
            <a:ext cx="113385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150F"/>
                </a:solidFill>
                <a:latin typeface="Plus Jakarta Sans"/>
              </a:rPr>
              <a:t>ver conductor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13432" y="4590288"/>
            <a:ext cx="1170432" cy="292608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31720" y="4594859"/>
            <a:ext cx="1133856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56B4D"/>
                </a:solidFill>
                <a:latin typeface="Plus Jakarta Sans"/>
              </a:rPr>
              <a:t>ver vehículo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1965960"/>
            <a:ext cx="5440680" cy="3154680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267712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E8A13A"/>
                </a:solidFill>
                <a:latin typeface="Aptos Display"/>
              </a:rPr>
              <a:t>RESPUESTA COMPUESTA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66090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DF8"/>
                </a:solidFill>
                <a:latin typeface="Plus Jakarta Sans"/>
              </a:rPr>
              <a:t>La IA entiende la consulta y devuelve contexto.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154680"/>
            <a:ext cx="4526280" cy="658368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337560"/>
            <a:ext cx="105156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1" i="0">
                <a:solidFill>
                  <a:srgbClr val="746F65"/>
                </a:solidFill>
                <a:latin typeface="Plus Jakarta Sans"/>
              </a:rPr>
              <a:t>Chofer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337560"/>
            <a:ext cx="105156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1" i="0">
                <a:solidFill>
                  <a:srgbClr val="746F65"/>
                </a:solidFill>
                <a:latin typeface="Plus Jakarta Sans"/>
              </a:rPr>
              <a:t>Deuda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337560"/>
            <a:ext cx="132588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1" i="0">
                <a:solidFill>
                  <a:srgbClr val="746F65"/>
                </a:solidFill>
                <a:latin typeface="Plus Jakarta Sans"/>
              </a:rPr>
              <a:t>Antigüedad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602736"/>
            <a:ext cx="11887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6150F"/>
                </a:solidFill>
                <a:latin typeface="Plus Jakarta Sans"/>
              </a:rPr>
              <a:t>D. Rotela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3602736"/>
            <a:ext cx="11887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14531"/>
                </a:solidFill>
                <a:latin typeface="Plus Jakarta Sans"/>
              </a:rPr>
              <a:t>$ 1.08M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602736"/>
            <a:ext cx="109728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6150F"/>
                </a:solidFill>
                <a:latin typeface="Plus Jakarta Sans"/>
              </a:rPr>
              <a:t>07 ago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4251960"/>
            <a:ext cx="868680" cy="274320"/>
          </a:xfrm>
          <a:prstGeom prst="roundRect">
            <a:avLst/>
          </a:prstGeom>
          <a:solidFill>
            <a:srgbClr val="F3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63055" y="4256532"/>
            <a:ext cx="832103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914531"/>
                </a:solidFill>
                <a:latin typeface="Plus Jakarta Sans"/>
              </a:rPr>
              <a:t>deudores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50608" y="4251960"/>
            <a:ext cx="758952" cy="274320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68896" y="4256532"/>
            <a:ext cx="722375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8A5D16"/>
                </a:solidFill>
                <a:latin typeface="Plus Jakarta Sans"/>
              </a:rPr>
              <a:t>agosto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4251960"/>
            <a:ext cx="1097280" cy="274320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65008" y="4256532"/>
            <a:ext cx="106070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56B4D"/>
                </a:solidFill>
                <a:latin typeface="Plus Jakarta Sans"/>
              </a:rPr>
              <a:t>prioridad alta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Admin mobile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347472" cy="347472"/>
          </a:xfrm>
          <a:prstGeom prst="round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8620"/>
            <a:ext cx="347472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>
                <a:solidFill>
                  <a:srgbClr val="16150F"/>
                </a:solidFill>
                <a:latin typeface="Plus Jakarta Sans"/>
              </a:rPr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8A5D16"/>
                </a:solidFill>
                <a:latin typeface="Aptos Display"/>
              </a:rPr>
              <a:t>05 ·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8046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6150F"/>
                </a:solidFill>
                <a:latin typeface="Plus Jakarta Sans"/>
              </a:rPr>
              <a:t>Una app liviana, conectada al backend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72768"/>
            <a:ext cx="80467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746F65"/>
                </a:solidFill>
                <a:latin typeface="Plus Jakarta Sans"/>
              </a:rPr>
              <a:t>La experiencia móvil comparte datos y reglas con el panel web.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38912"/>
            <a:ext cx="594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746F65"/>
                </a:solidFill>
                <a:latin typeface="Plus Jakarta San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64792"/>
            <a:ext cx="6217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6150F"/>
                </a:solidFill>
                <a:latin typeface="Plus Jakarta Sans"/>
              </a:rPr>
              <a:t>Una misma fuente de verdad para toda la operación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88920"/>
            <a:ext cx="2148840" cy="11155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999232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Experiencia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346703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746F65"/>
                </a:solidFill>
                <a:latin typeface="Plus Jakarta Sans"/>
              </a:rPr>
              <a:t>Expo · Android · 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7" y="2788920"/>
            <a:ext cx="2148840" cy="1115568"/>
          </a:xfrm>
          <a:prstGeom prst="roundRect">
            <a:avLst/>
          </a:prstGeom>
          <a:solidFill>
            <a:srgbClr val="161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58768" y="2999232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DF8"/>
                </a:solidFill>
                <a:latin typeface="Plus Jakarta Sans"/>
              </a:rPr>
              <a:t>API segura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3346703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F7DCA8"/>
                </a:solidFill>
                <a:latin typeface="Plus Jakarta Sans"/>
              </a:rPr>
              <a:t>Fastify · sesiones · roles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93408" y="2788920"/>
            <a:ext cx="2148840" cy="1115568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76288" y="2999232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6150F"/>
                </a:solidFill>
                <a:latin typeface="Plus Jakarta Sans"/>
              </a:rPr>
              <a:t>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3346703"/>
            <a:ext cx="1783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19" b="0" i="0">
                <a:solidFill>
                  <a:srgbClr val="746F65"/>
                </a:solidFill>
                <a:latin typeface="Plus Jakarta Sans"/>
              </a:rPr>
              <a:t>SQLite · WAL · auditoría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80360" y="3346704"/>
            <a:ext cx="777240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97880" y="3346704"/>
            <a:ext cx="777240" cy="0"/>
          </a:xfrm>
          <a:prstGeom prst="line">
            <a:avLst/>
          </a:prstGeom>
          <a:ln w="25400">
            <a:solidFill>
              <a:srgbClr val="E8A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72384" y="3008376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8A5D16"/>
                </a:solidFill>
                <a:latin typeface="Plus Jakarta Sans"/>
              </a:rPr>
              <a:t>HTTPS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3008376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1" i="0">
                <a:solidFill>
                  <a:srgbClr val="8A5D16"/>
                </a:solidFill>
                <a:latin typeface="Plus Jakarta Sans"/>
              </a:rPr>
              <a:t>derivados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251960"/>
            <a:ext cx="804672" cy="274320"/>
          </a:xfrm>
          <a:prstGeom prst="roundRect">
            <a:avLst/>
          </a:prstGeom>
          <a:solidFill>
            <a:srgbClr val="D9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3488" y="4256532"/>
            <a:ext cx="76809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56B4D"/>
                </a:solidFill>
                <a:latin typeface="Plus Jakarta Sans"/>
              </a:rPr>
              <a:t>Cobros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4251960"/>
            <a:ext cx="786384" cy="274320"/>
          </a:xfrm>
          <a:prstGeom prst="roundRect">
            <a:avLst/>
          </a:prstGeom>
          <a:solidFill>
            <a:srgbClr val="F3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4256532"/>
            <a:ext cx="749808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914531"/>
                </a:solidFill>
                <a:latin typeface="Plus Jakarta Sans"/>
              </a:rPr>
              <a:t>Gastos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9136" y="4251960"/>
            <a:ext cx="822960" cy="274320"/>
          </a:xfrm>
          <a:prstGeom prst="roundRect">
            <a:avLst/>
          </a:prstGeom>
          <a:solidFill>
            <a:srgbClr val="F7D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07424" y="4256532"/>
            <a:ext cx="7863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8A5D16"/>
                </a:solidFill>
                <a:latin typeface="Plus Jakarta Sans"/>
              </a:rPr>
              <a:t>Alertas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4709160"/>
            <a:ext cx="6583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46F65"/>
                </a:solidFill>
                <a:latin typeface="Plus Jakarta Sans"/>
              </a:rPr>
              <a:t>El mismo registro alimenta reportes, saldos, ranking y asistente IA.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1920240"/>
            <a:ext cx="2011680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81160" y="1920240"/>
            <a:ext cx="73152" cy="1042415"/>
          </a:xfrm>
          <a:prstGeom prst="rect">
            <a:avLst/>
          </a:prstGeom>
          <a:solidFill>
            <a:srgbClr val="E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500616" y="2084832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1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6" y="2532888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datos consistentes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1160" y="3182112"/>
            <a:ext cx="2011680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81160" y="3182112"/>
            <a:ext cx="73152" cy="1042415"/>
          </a:xfrm>
          <a:prstGeom prst="rect">
            <a:avLst/>
          </a:prstGeom>
          <a:solidFill>
            <a:srgbClr val="256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00616" y="3346704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6" y="3794760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respuesta + acción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1160" y="4443984"/>
            <a:ext cx="2011680" cy="1042415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281160" y="4443984"/>
            <a:ext cx="73152" cy="1042415"/>
          </a:xfrm>
          <a:prstGeom prst="rect">
            <a:avLst/>
          </a:prstGeom>
          <a:solidFill>
            <a:srgbClr val="914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00616" y="4608576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6150F"/>
                </a:solidFill>
                <a:latin typeface="Plus Jakarta Sans"/>
              </a:rPr>
              <a:t>0 túnel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616" y="5056632"/>
            <a:ext cx="1691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746F65"/>
                </a:solidFill>
                <a:latin typeface="Plus Jakarta Sans"/>
              </a:rPr>
              <a:t>backend en VPS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7620">
            <a:solidFill>
              <a:srgbClr val="D8D0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0352" y="6547104"/>
            <a:ext cx="4023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746F65"/>
                </a:solidFill>
                <a:latin typeface="Plus Jakarta Sans"/>
              </a:rPr>
              <a:t>MiFlota  ·  Admin mobile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54710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>
                <a:solidFill>
                  <a:srgbClr val="746F65"/>
                </a:solidFill>
                <a:latin typeface="Plus Jakarta San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585</Words>
  <Application>Microsoft Office PowerPoint</Application>
  <PresentationFormat>Panorámica</PresentationFormat>
  <Paragraphs>185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 Display</vt:lpstr>
      <vt:lpstr>Arial</vt:lpstr>
      <vt:lpstr>Calibri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Mauricio Conigliaro</cp:lastModifiedBy>
  <cp:revision>2</cp:revision>
  <dcterms:created xsi:type="dcterms:W3CDTF">2013-01-27T09:14:16Z</dcterms:created>
  <dcterms:modified xsi:type="dcterms:W3CDTF">2026-08-17T17:39:19Z</dcterms:modified>
  <cp:category/>
</cp:coreProperties>
</file>