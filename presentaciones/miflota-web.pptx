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5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640080"/>
            <a:ext cx="603504" cy="603504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4652"/>
            <a:ext cx="603504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400" b="1" i="0">
                <a:solidFill>
                  <a:srgbClr val="16150F"/>
                </a:solidFill>
                <a:latin typeface="Plus Jakarta Sans"/>
              </a:rPr>
              <a:t>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71323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7DCA8"/>
                </a:solidFill>
                <a:latin typeface="Aptos Display"/>
              </a:rPr>
              <a:t>PRESENTACIÓN DE PRODUCTO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27632"/>
            <a:ext cx="6492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DF8"/>
                </a:solidFill>
                <a:latin typeface="Plus Jakarta Sans"/>
              </a:rPr>
              <a:t>MiFlota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2514600"/>
            <a:ext cx="621792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7DCA8"/>
                </a:solidFill>
                <a:latin typeface="Plus Jakarta Sans"/>
              </a:rPr>
              <a:t>El centro de control para cada vehículo, cobro y decisión.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3337560"/>
            <a:ext cx="2148840" cy="365760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3342132"/>
            <a:ext cx="211226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6150F"/>
                </a:solidFill>
                <a:latin typeface="Plus Jakarta Sans"/>
              </a:rPr>
              <a:t>Panel para dueños de flota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960120"/>
            <a:ext cx="4800600" cy="4416552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22008" y="1271016"/>
            <a:ext cx="4581144" cy="3995928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976872" y="1069848"/>
            <a:ext cx="82296" cy="82296"/>
          </a:xfrm>
          <a:prstGeom prst="ellipse">
            <a:avLst/>
          </a:prstGeom>
          <a:solidFill>
            <a:srgbClr val="914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123176" y="1069848"/>
            <a:ext cx="82296" cy="82296"/>
          </a:xfrm>
          <a:prstGeom prst="ellipse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69480" y="1069848"/>
            <a:ext cx="82296" cy="82296"/>
          </a:xfrm>
          <a:prstGeom prst="ellipse">
            <a:avLst/>
          </a:prstGeom>
          <a:solidFill>
            <a:srgbClr val="25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1028700"/>
            <a:ext cx="3520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F7DCA8"/>
                </a:solidFill>
                <a:latin typeface="Plus Jakarta Sans"/>
              </a:rPr>
              <a:t>miflota / panel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22008" y="1271016"/>
            <a:ext cx="1152144" cy="3995928"/>
          </a:xfrm>
          <a:prstGeom prst="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14032" y="1490472"/>
            <a:ext cx="265176" cy="265176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14032" y="1495043"/>
            <a:ext cx="265176" cy="25603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16150F"/>
                </a:solidFill>
                <a:latin typeface="Plus Jakarta Sans"/>
              </a:rPr>
              <a:t>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22592" y="1956816"/>
            <a:ext cx="932688" cy="256032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41464" y="1993391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16150F"/>
                </a:solidFill>
                <a:latin typeface="Plus Jakarta Sans"/>
              </a:rPr>
              <a:t>Resumen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1464" y="2386584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F4F0E8"/>
                </a:solidFill>
                <a:latin typeface="Plus Jakarta Sans"/>
              </a:rPr>
              <a:t>Flota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1464" y="2779775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F4F0E8"/>
                </a:solidFill>
                <a:latin typeface="Plus Jakarta Sans"/>
              </a:rPr>
              <a:t>Choferes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1464" y="3172968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F4F0E8"/>
                </a:solidFill>
                <a:latin typeface="Plus Jakarta Sans"/>
              </a:rPr>
              <a:t>Alertas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1464" y="3566159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F4F0E8"/>
                </a:solidFill>
                <a:latin typeface="Plus Jakarta Sans"/>
              </a:rPr>
              <a:t>Reportes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490472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6150F"/>
                </a:solidFill>
                <a:latin typeface="Plus Jakarta Sans"/>
              </a:rPr>
              <a:t>Resumen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1764792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46F65"/>
                </a:solidFill>
                <a:latin typeface="Plus Jakarta Sans"/>
              </a:rPr>
              <a:t>Actualizado hace 2 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2057400"/>
            <a:ext cx="1316736" cy="1042415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2057400"/>
            <a:ext cx="73152" cy="1042415"/>
          </a:xfrm>
          <a:prstGeom prst="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0496" y="2221992"/>
            <a:ext cx="9966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6150F"/>
                </a:solidFill>
                <a:latin typeface="Plus Jakarta Sans"/>
              </a:rPr>
              <a:t>$ 18.4M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2670048"/>
            <a:ext cx="9966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46F65"/>
                </a:solidFill>
                <a:latin typeface="Plus Jakarta Sans"/>
              </a:rPr>
              <a:t>neto del mes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38360" y="2057400"/>
            <a:ext cx="1316736" cy="1042415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38360" y="2057400"/>
            <a:ext cx="73152" cy="1042415"/>
          </a:xfrm>
          <a:prstGeom prst="rect">
            <a:avLst/>
          </a:prstGeom>
          <a:solidFill>
            <a:srgbClr val="25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57816" y="2221992"/>
            <a:ext cx="9966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6150F"/>
                </a:solidFill>
                <a:latin typeface="Plus Jakarta Sans"/>
              </a:rPr>
              <a:t>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57816" y="2670048"/>
            <a:ext cx="9966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46F65"/>
                </a:solidFill>
                <a:latin typeface="Plus Jakarta Sans"/>
              </a:rPr>
              <a:t>vehículos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155680" y="2057400"/>
            <a:ext cx="1024128" cy="1042415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155680" y="2057400"/>
            <a:ext cx="73152" cy="1042415"/>
          </a:xfrm>
          <a:prstGeom prst="rect">
            <a:avLst/>
          </a:prstGeom>
          <a:solidFill>
            <a:srgbClr val="914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375136" y="2221992"/>
            <a:ext cx="7040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6150F"/>
                </a:solidFill>
                <a:latin typeface="Plus Jakarta Sans"/>
              </a:rPr>
              <a:t>86%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75136" y="2670048"/>
            <a:ext cx="7040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46F65"/>
                </a:solidFill>
                <a:latin typeface="Plus Jakarta Sans"/>
              </a:rPr>
              <a:t>cobrado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21040" y="3337560"/>
            <a:ext cx="2560320" cy="121615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85632" y="3502152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6150F"/>
                </a:solidFill>
                <a:latin typeface="Plus Jakarta Sans"/>
              </a:rPr>
              <a:t>Ingresos vs. gastos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8531352" y="3867912"/>
            <a:ext cx="338328" cy="310896"/>
          </a:xfrm>
          <a:prstGeom prst="line">
            <a:avLst/>
          </a:prstGeom>
          <a:ln w="25400">
            <a:solidFill>
              <a:srgbClr val="E8A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869680" y="3867912"/>
            <a:ext cx="365760" cy="155448"/>
          </a:xfrm>
          <a:prstGeom prst="line">
            <a:avLst/>
          </a:prstGeom>
          <a:ln w="25400">
            <a:solidFill>
              <a:srgbClr val="E8A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9235440" y="3685032"/>
            <a:ext cx="338328" cy="338328"/>
          </a:xfrm>
          <a:prstGeom prst="line">
            <a:avLst/>
          </a:prstGeom>
          <a:ln w="25400">
            <a:solidFill>
              <a:srgbClr val="E8A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573768" y="3685032"/>
            <a:ext cx="356616" cy="164592"/>
          </a:xfrm>
          <a:prstGeom prst="line">
            <a:avLst/>
          </a:prstGeom>
          <a:ln w="25400">
            <a:solidFill>
              <a:srgbClr val="E8A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9930384" y="3483863"/>
            <a:ext cx="384048" cy="365761"/>
          </a:xfrm>
          <a:prstGeom prst="line">
            <a:avLst/>
          </a:prstGeom>
          <a:ln w="25400">
            <a:solidFill>
              <a:srgbClr val="E8A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314432" y="3483863"/>
            <a:ext cx="384048" cy="137161"/>
          </a:xfrm>
          <a:prstGeom prst="line">
            <a:avLst/>
          </a:prstGeom>
          <a:ln w="25400">
            <a:solidFill>
              <a:srgbClr val="E8A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8494776" y="4142232"/>
            <a:ext cx="73152" cy="73152"/>
          </a:xfrm>
          <a:prstGeom prst="ellipse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33104" y="3831336"/>
            <a:ext cx="73152" cy="73152"/>
          </a:xfrm>
          <a:prstGeom prst="ellipse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198864" y="3986784"/>
            <a:ext cx="73152" cy="73152"/>
          </a:xfrm>
          <a:prstGeom prst="ellipse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537192" y="3648456"/>
            <a:ext cx="73152" cy="73152"/>
          </a:xfrm>
          <a:prstGeom prst="ellipse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893808" y="3813048"/>
            <a:ext cx="73152" cy="73152"/>
          </a:xfrm>
          <a:prstGeom prst="ellipse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277856" y="3447287"/>
            <a:ext cx="73152" cy="73152"/>
          </a:xfrm>
          <a:prstGeom prst="ellipse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661904" y="3584448"/>
            <a:ext cx="73152" cy="73152"/>
          </a:xfrm>
          <a:prstGeom prst="ellipse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1036808" y="3337560"/>
            <a:ext cx="1143000" cy="121615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201400" y="3502152"/>
            <a:ext cx="7132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6150F"/>
                </a:solidFill>
                <a:latin typeface="Plus Jakarta Sans"/>
              </a:rPr>
              <a:t>Alertas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83112" y="3749039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914531"/>
                </a:solidFill>
                <a:latin typeface="Plus Jakarta Sans"/>
              </a:rPr>
              <a:t>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01400" y="4087368"/>
            <a:ext cx="822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746F65"/>
                </a:solidFill>
                <a:latin typeface="Plus Jakarta Sans"/>
              </a:rPr>
              <a:t>requieren acción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" y="5961888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8A13A"/>
                </a:solidFill>
                <a:latin typeface="Plus Jakarta Sans"/>
              </a:rPr>
              <a:t>CONTROL · CLARIDAD · ACCIÓN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D8D0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30352" y="6547104"/>
            <a:ext cx="4023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46F65"/>
                </a:solidFill>
                <a:latin typeface="Plus Jakarta Sans"/>
              </a:rPr>
              <a:t>MiFlota  ·  Web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64240" y="654710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746F65"/>
                </a:solidFill>
                <a:latin typeface="Plus Jakarta San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347472" cy="347472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8620"/>
            <a:ext cx="347472" cy="3383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16150F"/>
                </a:solidFill>
                <a:latin typeface="Plus Jakarta Sans"/>
              </a:rPr>
              <a:t>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3474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5D16"/>
                </a:solidFill>
                <a:latin typeface="Aptos Display"/>
              </a:rPr>
              <a:t>01 · LA OPORTUNIDAD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8046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16150F"/>
                </a:solidFill>
                <a:latin typeface="Plus Jakarta Sans"/>
              </a:rPr>
              <a:t>De planillas dispersas a una sola vista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572768"/>
            <a:ext cx="8046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46F65"/>
                </a:solidFill>
                <a:latin typeface="Plus Jakarta Sans"/>
              </a:rPr>
              <a:t>MiFlota convierte la operación diaria en decisiones simples.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3891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46F65"/>
                </a:solidFill>
                <a:latin typeface="Plus Jakarta San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40280"/>
            <a:ext cx="3429000" cy="19659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423160"/>
            <a:ext cx="384048" cy="256032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427732"/>
            <a:ext cx="34747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16150F"/>
                </a:solidFill>
                <a:latin typeface="Plus Jakarta San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150F"/>
                </a:solidFill>
                <a:latin typeface="Plus Jakarta Sans"/>
              </a:rPr>
              <a:t>Ver qué pasa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72968"/>
            <a:ext cx="3063240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46F65"/>
                </a:solidFill>
                <a:latin typeface="Plus Jakarta Sans"/>
              </a:rPr>
              <a:t>Ingresos, gastos, deudas y salud de la flota en un dashboard vivo.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240280"/>
            <a:ext cx="3429000" cy="19659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53712" y="2423160"/>
            <a:ext cx="384048" cy="256032"/>
          </a:xfrm>
          <a:prstGeom prst="roundRect">
            <a:avLst/>
          </a:prstGeom>
          <a:solidFill>
            <a:srgbClr val="25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427732"/>
            <a:ext cx="34747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16150F"/>
                </a:solidFill>
                <a:latin typeface="Plus Jakarta San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834640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150F"/>
                </a:solidFill>
                <a:latin typeface="Plus Jakarta Sans"/>
              </a:rPr>
              <a:t>Entender por qué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3172968"/>
            <a:ext cx="3063240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46F65"/>
                </a:solidFill>
                <a:latin typeface="Plus Jakarta Sans"/>
              </a:rPr>
              <a:t>Filtros, reportes y movimientos permiten encontrar el origen de cada número.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2240280"/>
            <a:ext cx="3429000" cy="19659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30183" y="2423160"/>
            <a:ext cx="384048" cy="256032"/>
          </a:xfrm>
          <a:prstGeom prst="roundRect">
            <a:avLst/>
          </a:prstGeom>
          <a:solidFill>
            <a:srgbClr val="914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1" y="2427732"/>
            <a:ext cx="34747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16150F"/>
                </a:solidFill>
                <a:latin typeface="Plus Jakarta San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3" y="2834640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150F"/>
                </a:solidFill>
                <a:latin typeface="Plus Jakarta Sans"/>
              </a:rPr>
              <a:t>Actuar a tiempo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3" y="3172968"/>
            <a:ext cx="3063240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46F65"/>
                </a:solidFill>
                <a:latin typeface="Plus Jakarta Sans"/>
              </a:rPr>
              <a:t>Alertas y cobros registrados desde el mismo lugar, con trazabilidad.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4892040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6150F"/>
                </a:solidFill>
                <a:latin typeface="Plus Jakarta Sans"/>
              </a:rPr>
              <a:t>Una flota rentable no se gestiona mirando hacia atrás: se gestiona con contexto.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4617720"/>
            <a:ext cx="2103120" cy="1042415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4617720"/>
            <a:ext cx="73152" cy="1042415"/>
          </a:xfrm>
          <a:prstGeom prst="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54896" y="4782312"/>
            <a:ext cx="17830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6150F"/>
                </a:solidFill>
                <a:latin typeface="Plus Jakarta Sans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54896" y="5230368"/>
            <a:ext cx="17830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46F65"/>
                </a:solidFill>
                <a:latin typeface="Plus Jakarta Sans"/>
              </a:rPr>
              <a:t>fuente de verdad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D8D0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30352" y="6547104"/>
            <a:ext cx="4023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46F65"/>
                </a:solidFill>
                <a:latin typeface="Plus Jakarta Sans"/>
              </a:rPr>
              <a:t>MiFlota  ·  Web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54710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746F65"/>
                </a:solidFill>
                <a:latin typeface="Plus Jakarta 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5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347472" cy="347472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8620"/>
            <a:ext cx="347472" cy="3383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FFFDF8"/>
                </a:solidFill>
                <a:latin typeface="Plus Jakarta Sans"/>
              </a:rPr>
              <a:t>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3474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E8A13A"/>
                </a:solidFill>
                <a:latin typeface="Aptos Display"/>
              </a:rPr>
              <a:t>02 · FLUJO DE TRABAJO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8046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FFFDF8"/>
                </a:solidFill>
                <a:latin typeface="Plus Jakarta Sans"/>
              </a:rPr>
              <a:t>Una operación completa, de punta a punta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572768"/>
            <a:ext cx="8046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F7DCA8"/>
                </a:solidFill>
                <a:latin typeface="Plus Jakarta Sans"/>
              </a:rPr>
              <a:t>Cada acción deja un registro útil para la siguiente decisión.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3891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F7DCA8"/>
                </a:solidFill>
                <a:latin typeface="Plus Jakarta San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43200"/>
            <a:ext cx="1828800" cy="1261872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944368"/>
            <a:ext cx="420624" cy="274320"/>
          </a:xfrm>
          <a:prstGeom prst="roundRect">
            <a:avLst/>
          </a:prstGeom>
          <a:solidFill>
            <a:srgbClr val="25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948940"/>
            <a:ext cx="38404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16150F"/>
                </a:solidFill>
                <a:latin typeface="Plus Jakarta San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46704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150F"/>
                </a:solidFill>
                <a:latin typeface="Plus Jakarta Sans"/>
              </a:rPr>
              <a:t>Registrar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60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46F65"/>
                </a:solidFill>
                <a:latin typeface="Plus Jakarta Sans"/>
              </a:rPr>
              <a:t>Cobro o gasto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87752" y="3374136"/>
            <a:ext cx="310896" cy="0"/>
          </a:xfrm>
          <a:prstGeom prst="line">
            <a:avLst/>
          </a:prstGeom>
          <a:ln w="25400">
            <a:solidFill>
              <a:srgbClr val="E8A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71800" y="2743200"/>
            <a:ext cx="1828800" cy="1261872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154680" y="2944368"/>
            <a:ext cx="420624" cy="274320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72968" y="2948940"/>
            <a:ext cx="38404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16150F"/>
                </a:solidFill>
                <a:latin typeface="Plus Jakarta San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346704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150F"/>
                </a:solidFill>
                <a:latin typeface="Plus Jakarta Sans"/>
              </a:rPr>
              <a:t>Consolidar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65760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46F65"/>
                </a:solidFill>
                <a:latin typeface="Plus Jakarta Sans"/>
              </a:rPr>
              <a:t>Movimiento + comprobante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73752" y="3374136"/>
            <a:ext cx="310896" cy="0"/>
          </a:xfrm>
          <a:prstGeom prst="line">
            <a:avLst/>
          </a:prstGeom>
          <a:ln w="25400">
            <a:solidFill>
              <a:srgbClr val="E8A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257800" y="2743200"/>
            <a:ext cx="1828800" cy="1261872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40680" y="2944368"/>
            <a:ext cx="420624" cy="274320"/>
          </a:xfrm>
          <a:prstGeom prst="roundRect">
            <a:avLst/>
          </a:prstGeom>
          <a:solidFill>
            <a:srgbClr val="914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58968" y="2948940"/>
            <a:ext cx="38404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16150F"/>
                </a:solidFill>
                <a:latin typeface="Plus Jakarta San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3346704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150F"/>
                </a:solidFill>
                <a:latin typeface="Plus Jakarta Sans"/>
              </a:rPr>
              <a:t>Analizar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365760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46F65"/>
                </a:solidFill>
                <a:latin typeface="Plus Jakarta Sans"/>
              </a:rPr>
              <a:t>Saldos, alertas, ranking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59752" y="3374136"/>
            <a:ext cx="310896" cy="0"/>
          </a:xfrm>
          <a:prstGeom prst="line">
            <a:avLst/>
          </a:prstGeom>
          <a:ln w="25400">
            <a:solidFill>
              <a:srgbClr val="E8A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543800" y="2743200"/>
            <a:ext cx="1828800" cy="1261872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26679" y="2944368"/>
            <a:ext cx="420624" cy="274320"/>
          </a:xfrm>
          <a:prstGeom prst="roundRect">
            <a:avLst/>
          </a:prstGeom>
          <a:solidFill>
            <a:srgbClr val="25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44967" y="2948940"/>
            <a:ext cx="38404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16150F"/>
                </a:solidFill>
                <a:latin typeface="Plus Jakarta San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3346704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150F"/>
                </a:solidFill>
                <a:latin typeface="Plus Jakarta Sans"/>
              </a:rPr>
              <a:t>Decidir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365760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46F65"/>
                </a:solidFill>
                <a:latin typeface="Plus Jakarta Sans"/>
              </a:rPr>
              <a:t>Priorizar la próxima acción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489204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7DCA8"/>
                </a:solidFill>
                <a:latin typeface="Plus Jakarta Sans"/>
              </a:rPr>
              <a:t>De un movimiento individual a una lectura estratégica de toda la flota.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41080" y="4773168"/>
            <a:ext cx="1325880" cy="329184"/>
          </a:xfrm>
          <a:prstGeom prst="roundRect">
            <a:avLst/>
          </a:prstGeom>
          <a:solidFill>
            <a:srgbClr val="D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59367" y="4777740"/>
            <a:ext cx="128930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56B4D"/>
                </a:solidFill>
                <a:latin typeface="Plus Jakarta Sans"/>
              </a:rPr>
              <a:t>menos fricción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04120" y="4773168"/>
            <a:ext cx="1188720" cy="329184"/>
          </a:xfrm>
          <a:prstGeom prst="roundRect">
            <a:avLst/>
          </a:prstGeom>
          <a:solidFill>
            <a:srgbClr val="F7D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22408" y="47777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8A5D16"/>
                </a:solidFill>
                <a:latin typeface="Plus Jakarta Sans"/>
              </a:rPr>
              <a:t>más control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D8D0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30352" y="6547104"/>
            <a:ext cx="4023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46F65"/>
                </a:solidFill>
                <a:latin typeface="Plus Jakarta Sans"/>
              </a:rPr>
              <a:t>MiFlota  ·  Web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54710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746F65"/>
                </a:solidFill>
                <a:latin typeface="Plus Jakarta 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347472" cy="347472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8620"/>
            <a:ext cx="347472" cy="3383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16150F"/>
                </a:solidFill>
                <a:latin typeface="Plus Jakarta Sans"/>
              </a:rPr>
              <a:t>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3474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5D16"/>
                </a:solidFill>
                <a:latin typeface="Aptos Display"/>
              </a:rPr>
              <a:t>03 · PRODUCTO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8046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16150F"/>
                </a:solidFill>
                <a:latin typeface="Plus Jakarta Sans"/>
              </a:rPr>
              <a:t>El panel que organiza el día del dueño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572768"/>
            <a:ext cx="8046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46F65"/>
                </a:solidFill>
                <a:latin typeface="Plus Jakarta Sans"/>
              </a:rPr>
              <a:t>Un mapa de navegación corto, visual y accionable.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3891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46F65"/>
                </a:solidFill>
                <a:latin typeface="Plus Jakarta San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965960"/>
            <a:ext cx="6400800" cy="4023360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276856"/>
            <a:ext cx="6181344" cy="3602736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6384" y="2075688"/>
            <a:ext cx="82296" cy="82296"/>
          </a:xfrm>
          <a:prstGeom prst="ellipse">
            <a:avLst/>
          </a:prstGeom>
          <a:solidFill>
            <a:srgbClr val="914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2075688"/>
            <a:ext cx="82296" cy="82296"/>
          </a:xfrm>
          <a:prstGeom prst="ellipse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" y="2075688"/>
            <a:ext cx="82296" cy="82296"/>
          </a:xfrm>
          <a:prstGeom prst="ellipse">
            <a:avLst/>
          </a:prstGeom>
          <a:solidFill>
            <a:srgbClr val="25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2034540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F7DCA8"/>
                </a:solidFill>
                <a:latin typeface="Plus Jakarta Sans"/>
              </a:rPr>
              <a:t>miflota / panel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276856"/>
            <a:ext cx="1152144" cy="3602736"/>
          </a:xfrm>
          <a:prstGeom prst="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3544" y="2496312"/>
            <a:ext cx="265176" cy="265176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" y="2500884"/>
            <a:ext cx="265176" cy="25603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16150F"/>
                </a:solidFill>
                <a:latin typeface="Plus Jakarta Sans"/>
              </a:rPr>
              <a:t>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" y="2962656"/>
            <a:ext cx="932688" cy="256032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2999232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16150F"/>
                </a:solidFill>
                <a:latin typeface="Plus Jakarta Sans"/>
              </a:rPr>
              <a:t>Resumen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3392424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F4F0E8"/>
                </a:solidFill>
                <a:latin typeface="Plus Jakarta Sans"/>
              </a:rPr>
              <a:t>Flota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3785615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F4F0E8"/>
                </a:solidFill>
                <a:latin typeface="Plus Jakarta Sans"/>
              </a:rPr>
              <a:t>Choferes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178808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F4F0E8"/>
                </a:solidFill>
                <a:latin typeface="Plus Jakarta Sans"/>
              </a:rPr>
              <a:t>Alertas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4572000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F4F0E8"/>
                </a:solidFill>
                <a:latin typeface="Plus Jakarta Sans"/>
              </a:rPr>
              <a:t>Reportes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30552" y="2496312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6150F"/>
                </a:solidFill>
                <a:latin typeface="Plus Jakarta Sans"/>
              </a:rPr>
              <a:t>Resumen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0552" y="2770632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46F65"/>
                </a:solidFill>
                <a:latin typeface="Plus Jakarta Sans"/>
              </a:rPr>
              <a:t>Actualizado hace 2 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30552" y="3063239"/>
            <a:ext cx="1316736" cy="1042415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30552" y="3063239"/>
            <a:ext cx="73152" cy="1042415"/>
          </a:xfrm>
          <a:prstGeom prst="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50008" y="3227832"/>
            <a:ext cx="9966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6150F"/>
                </a:solidFill>
                <a:latin typeface="Plus Jakarta Sans"/>
              </a:rPr>
              <a:t>$ 18.4M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50008" y="3675887"/>
            <a:ext cx="9966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46F65"/>
                </a:solidFill>
                <a:latin typeface="Plus Jakarta Sans"/>
              </a:rPr>
              <a:t>neto del mes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47872" y="3063239"/>
            <a:ext cx="1316736" cy="1042415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47872" y="3063239"/>
            <a:ext cx="73152" cy="1042415"/>
          </a:xfrm>
          <a:prstGeom prst="rect">
            <a:avLst/>
          </a:prstGeom>
          <a:solidFill>
            <a:srgbClr val="25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67328" y="3227832"/>
            <a:ext cx="9966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6150F"/>
                </a:solidFill>
                <a:latin typeface="Plus Jakarta Sans"/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67328" y="3675887"/>
            <a:ext cx="9966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46F65"/>
                </a:solidFill>
                <a:latin typeface="Plus Jakarta Sans"/>
              </a:rPr>
              <a:t>vehículos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65192" y="3063239"/>
            <a:ext cx="1024128" cy="1042415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965192" y="3063239"/>
            <a:ext cx="73152" cy="1042415"/>
          </a:xfrm>
          <a:prstGeom prst="rect">
            <a:avLst/>
          </a:prstGeom>
          <a:solidFill>
            <a:srgbClr val="914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84648" y="3227832"/>
            <a:ext cx="7040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6150F"/>
                </a:solidFill>
                <a:latin typeface="Plus Jakarta Sans"/>
              </a:rPr>
              <a:t>86%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4648" y="3675887"/>
            <a:ext cx="7040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46F65"/>
                </a:solidFill>
                <a:latin typeface="Plus Jakarta Sans"/>
              </a:rPr>
              <a:t>cobrado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30552" y="4343400"/>
            <a:ext cx="2560320" cy="121615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95144" y="4507992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6150F"/>
                </a:solidFill>
                <a:latin typeface="Plus Jakarta Sans"/>
              </a:rPr>
              <a:t>Ingresos vs. gastos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2340864" y="4873752"/>
            <a:ext cx="338328" cy="310896"/>
          </a:xfrm>
          <a:prstGeom prst="line">
            <a:avLst/>
          </a:prstGeom>
          <a:ln w="25400">
            <a:solidFill>
              <a:srgbClr val="E8A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679192" y="4873752"/>
            <a:ext cx="365760" cy="155448"/>
          </a:xfrm>
          <a:prstGeom prst="line">
            <a:avLst/>
          </a:prstGeom>
          <a:ln w="25400">
            <a:solidFill>
              <a:srgbClr val="E8A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044952" y="4690872"/>
            <a:ext cx="338328" cy="338328"/>
          </a:xfrm>
          <a:prstGeom prst="line">
            <a:avLst/>
          </a:prstGeom>
          <a:ln w="25400">
            <a:solidFill>
              <a:srgbClr val="E8A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383280" y="4690872"/>
            <a:ext cx="356616" cy="164592"/>
          </a:xfrm>
          <a:prstGeom prst="line">
            <a:avLst/>
          </a:prstGeom>
          <a:ln w="25400">
            <a:solidFill>
              <a:srgbClr val="E8A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739896" y="4489704"/>
            <a:ext cx="384048" cy="365760"/>
          </a:xfrm>
          <a:prstGeom prst="line">
            <a:avLst/>
          </a:prstGeom>
          <a:ln w="25400">
            <a:solidFill>
              <a:srgbClr val="E8A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123944" y="4489704"/>
            <a:ext cx="384048" cy="137160"/>
          </a:xfrm>
          <a:prstGeom prst="line">
            <a:avLst/>
          </a:prstGeom>
          <a:ln w="25400">
            <a:solidFill>
              <a:srgbClr val="E8A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2304288" y="5148072"/>
            <a:ext cx="73152" cy="73152"/>
          </a:xfrm>
          <a:prstGeom prst="ellipse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642616" y="4837176"/>
            <a:ext cx="73152" cy="73152"/>
          </a:xfrm>
          <a:prstGeom prst="ellipse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08376" y="4992624"/>
            <a:ext cx="73152" cy="73152"/>
          </a:xfrm>
          <a:prstGeom prst="ellipse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346704" y="4654296"/>
            <a:ext cx="73152" cy="73152"/>
          </a:xfrm>
          <a:prstGeom prst="ellipse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703320" y="4818888"/>
            <a:ext cx="73152" cy="73152"/>
          </a:xfrm>
          <a:prstGeom prst="ellipse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087368" y="4453128"/>
            <a:ext cx="73152" cy="73152"/>
          </a:xfrm>
          <a:prstGeom prst="ellipse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471416" y="4590288"/>
            <a:ext cx="73152" cy="73152"/>
          </a:xfrm>
          <a:prstGeom prst="ellipse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846320" y="4343400"/>
            <a:ext cx="1143000" cy="121615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10912" y="4507992"/>
            <a:ext cx="7132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6150F"/>
                </a:solidFill>
                <a:latin typeface="Plus Jakarta Sans"/>
              </a:rPr>
              <a:t>Alertas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92624" y="4754879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914531"/>
                </a:solidFill>
                <a:latin typeface="Plus Jakarta Sans"/>
              </a:rPr>
              <a:t>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10912" y="5093208"/>
            <a:ext cx="822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746F65"/>
                </a:solidFill>
                <a:latin typeface="Plus Jakarta Sans"/>
              </a:rPr>
              <a:t>requieren acción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89520" y="2103120"/>
            <a:ext cx="3886200" cy="3639312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09560" y="2423160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E8A13A"/>
                </a:solidFill>
                <a:latin typeface="Aptos Display"/>
              </a:rPr>
              <a:t>MÓDULOS CLAVE</a:t>
            </a:r>
          </a:p>
        </p:txBody>
      </p:sp>
      <p:sp>
        <p:nvSpPr>
          <p:cNvPr id="58" name="Oval 57"/>
          <p:cNvSpPr/>
          <p:nvPr/>
        </p:nvSpPr>
        <p:spPr>
          <a:xfrm>
            <a:off x="7909560" y="2962656"/>
            <a:ext cx="91440" cy="91440"/>
          </a:xfrm>
          <a:prstGeom prst="ellipse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74152" y="2880360"/>
            <a:ext cx="28986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FFFDF8"/>
                </a:solidFill>
                <a:latin typeface="Plus Jakarta Sans"/>
              </a:rPr>
              <a:t>Resumen: KPIs, rendimiento y alertas.</a:t>
            </a:r>
          </a:p>
        </p:txBody>
      </p:sp>
      <p:sp>
        <p:nvSpPr>
          <p:cNvPr id="60" name="Oval 59"/>
          <p:cNvSpPr/>
          <p:nvPr/>
        </p:nvSpPr>
        <p:spPr>
          <a:xfrm>
            <a:off x="7909560" y="3364991"/>
            <a:ext cx="91440" cy="91440"/>
          </a:xfrm>
          <a:prstGeom prst="ellipse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74152" y="3282696"/>
            <a:ext cx="28986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FFFDF8"/>
                </a:solidFill>
                <a:latin typeface="Plus Jakarta Sans"/>
              </a:rPr>
              <a:t>Flota: tabla sortable y detalle por vehículo.</a:t>
            </a:r>
          </a:p>
        </p:txBody>
      </p:sp>
      <p:sp>
        <p:nvSpPr>
          <p:cNvPr id="62" name="Oval 61"/>
          <p:cNvSpPr/>
          <p:nvPr/>
        </p:nvSpPr>
        <p:spPr>
          <a:xfrm>
            <a:off x="7909560" y="3767328"/>
            <a:ext cx="91440" cy="91440"/>
          </a:xfrm>
          <a:prstGeom prst="ellipse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74152" y="3685032"/>
            <a:ext cx="28986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FFFDF8"/>
                </a:solidFill>
                <a:latin typeface="Plus Jakarta Sans"/>
              </a:rPr>
              <a:t>Choferes: deuda, pagos y asignaciones.</a:t>
            </a:r>
          </a:p>
        </p:txBody>
      </p:sp>
      <p:sp>
        <p:nvSpPr>
          <p:cNvPr id="64" name="Oval 63"/>
          <p:cNvSpPr/>
          <p:nvPr/>
        </p:nvSpPr>
        <p:spPr>
          <a:xfrm>
            <a:off x="7909560" y="4169663"/>
            <a:ext cx="91440" cy="91440"/>
          </a:xfrm>
          <a:prstGeom prst="ellipse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74152" y="4087368"/>
            <a:ext cx="28986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FFFDF8"/>
                </a:solidFill>
                <a:latin typeface="Plus Jakarta Sans"/>
              </a:rPr>
              <a:t>Reportes: movimientos, categorías y Excel.</a:t>
            </a:r>
          </a:p>
        </p:txBody>
      </p:sp>
      <p:sp>
        <p:nvSpPr>
          <p:cNvPr id="66" name="Oval 65"/>
          <p:cNvSpPr/>
          <p:nvPr/>
        </p:nvSpPr>
        <p:spPr>
          <a:xfrm>
            <a:off x="7909560" y="4572000"/>
            <a:ext cx="91440" cy="91440"/>
          </a:xfrm>
          <a:prstGeom prst="ellipse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74152" y="4489704"/>
            <a:ext cx="28986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FFFDF8"/>
                </a:solidFill>
                <a:latin typeface="Plus Jakarta Sans"/>
              </a:rPr>
              <a:t>Cobros: cuotas, pagos y comprobantes.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909560" y="5257800"/>
            <a:ext cx="1234440" cy="301752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927848" y="5262372"/>
            <a:ext cx="11978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16150F"/>
                </a:solidFill>
                <a:latin typeface="Plus Jakarta Sans"/>
              </a:rPr>
              <a:t>desktop-first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281160" y="5257800"/>
            <a:ext cx="1170432" cy="301752"/>
          </a:xfrm>
          <a:prstGeom prst="roundRect">
            <a:avLst/>
          </a:prstGeom>
          <a:solidFill>
            <a:srgbClr val="D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299448" y="5262372"/>
            <a:ext cx="11338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256B4D"/>
                </a:solidFill>
                <a:latin typeface="Plus Jakarta Sans"/>
              </a:rPr>
              <a:t>datos reales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D8D0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530352" y="6547104"/>
            <a:ext cx="4023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46F65"/>
                </a:solidFill>
                <a:latin typeface="Plus Jakarta Sans"/>
              </a:rPr>
              <a:t>MiFlota  ·  Web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064240" y="654710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746F65"/>
                </a:solidFill>
                <a:latin typeface="Plus Jakarta 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347472" cy="347472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8620"/>
            <a:ext cx="347472" cy="3383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16150F"/>
                </a:solidFill>
                <a:latin typeface="Plus Jakarta Sans"/>
              </a:rPr>
              <a:t>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3474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5D16"/>
                </a:solidFill>
                <a:latin typeface="Aptos Display"/>
              </a:rPr>
              <a:t>04 · PLATAFORMA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8046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16150F"/>
                </a:solidFill>
                <a:latin typeface="Plus Jakarta Sans"/>
              </a:rPr>
              <a:t>Una base sólida para crecer sin perder el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572768"/>
            <a:ext cx="8046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46F65"/>
                </a:solidFill>
                <a:latin typeface="Plus Jakarta Sans"/>
              </a:rPr>
              <a:t>Seguridad y consistencia detrás de cada pantalla.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3891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46F65"/>
                </a:solidFill>
                <a:latin typeface="Plus Jakarta San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764792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6150F"/>
                </a:solidFill>
                <a:latin typeface="Plus Jakarta Sans"/>
              </a:rPr>
              <a:t>Una misma fuente de verdad para toda la operación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788920"/>
            <a:ext cx="2148840" cy="111556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999232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150F"/>
                </a:solidFill>
                <a:latin typeface="Plus Jakarta Sans"/>
              </a:rPr>
              <a:t>Experiencia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346703"/>
            <a:ext cx="1783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 i="0">
                <a:solidFill>
                  <a:srgbClr val="746F65"/>
                </a:solidFill>
                <a:latin typeface="Plus Jakarta Sans"/>
              </a:rPr>
              <a:t>Panel React + TypeScript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75887" y="2788920"/>
            <a:ext cx="2148840" cy="1115568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58768" y="2999232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DF8"/>
                </a:solidFill>
                <a:latin typeface="Plus Jakarta Sans"/>
              </a:rPr>
              <a:t>API segura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3346703"/>
            <a:ext cx="1783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 i="0">
                <a:solidFill>
                  <a:srgbClr val="F7DCA8"/>
                </a:solidFill>
                <a:latin typeface="Plus Jakarta Sans"/>
              </a:rPr>
              <a:t>Fastify · sesiones · roles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93408" y="2788920"/>
            <a:ext cx="2148840" cy="111556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76288" y="2999232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150F"/>
                </a:solidFill>
                <a:latin typeface="Plus Jakarta Sans"/>
              </a:rPr>
              <a:t>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3346703"/>
            <a:ext cx="1783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 i="0">
                <a:solidFill>
                  <a:srgbClr val="746F65"/>
                </a:solidFill>
                <a:latin typeface="Plus Jakarta Sans"/>
              </a:rPr>
              <a:t>SQLite · WAL · auditoría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80360" y="3346704"/>
            <a:ext cx="777240" cy="0"/>
          </a:xfrm>
          <a:prstGeom prst="line">
            <a:avLst/>
          </a:prstGeom>
          <a:ln w="25400">
            <a:solidFill>
              <a:srgbClr val="E8A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897880" y="3346704"/>
            <a:ext cx="777240" cy="0"/>
          </a:xfrm>
          <a:prstGeom prst="line">
            <a:avLst/>
          </a:prstGeom>
          <a:ln w="25400">
            <a:solidFill>
              <a:srgbClr val="E8A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072384" y="3008376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8A5D16"/>
                </a:solidFill>
                <a:latin typeface="Plus Jakarta Sans"/>
              </a:rPr>
              <a:t>HTTPS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008376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8A5D16"/>
                </a:solidFill>
                <a:latin typeface="Plus Jakarta Sans"/>
              </a:rPr>
              <a:t>derivados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4251960"/>
            <a:ext cx="804672" cy="274320"/>
          </a:xfrm>
          <a:prstGeom prst="roundRect">
            <a:avLst/>
          </a:prstGeom>
          <a:solidFill>
            <a:srgbClr val="D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4256532"/>
            <a:ext cx="76809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56B4D"/>
                </a:solidFill>
                <a:latin typeface="Plus Jakarta Sans"/>
              </a:rPr>
              <a:t>Cobros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11312" y="4251960"/>
            <a:ext cx="786384" cy="274320"/>
          </a:xfrm>
          <a:prstGeom prst="roundRect">
            <a:avLst/>
          </a:prstGeom>
          <a:solidFill>
            <a:srgbClr val="F3D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4256532"/>
            <a:ext cx="74980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914531"/>
                </a:solidFill>
                <a:latin typeface="Plus Jakarta Sans"/>
              </a:rPr>
              <a:t>Gastos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89136" y="4251960"/>
            <a:ext cx="822960" cy="274320"/>
          </a:xfrm>
          <a:prstGeom prst="roundRect">
            <a:avLst/>
          </a:prstGeom>
          <a:solidFill>
            <a:srgbClr val="F7D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4256532"/>
            <a:ext cx="78638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8A5D16"/>
                </a:solidFill>
                <a:latin typeface="Plus Jakarta Sans"/>
              </a:rPr>
              <a:t>Alertas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" y="4709160"/>
            <a:ext cx="6583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46F65"/>
                </a:solidFill>
                <a:latin typeface="Plus Jakarta Sans"/>
              </a:rPr>
              <a:t>El mismo registro alimenta reportes, saldos, ranking y asistente IA.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81160" y="1920240"/>
            <a:ext cx="2011680" cy="1042415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81160" y="1920240"/>
            <a:ext cx="73152" cy="1042415"/>
          </a:xfrm>
          <a:prstGeom prst="rect">
            <a:avLst/>
          </a:prstGeom>
          <a:solidFill>
            <a:srgbClr val="25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0616" y="2084832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6150F"/>
                </a:solidFill>
                <a:latin typeface="Plus Jakarta Sans"/>
              </a:rPr>
              <a:t>HTTPS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0616" y="2532888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46F65"/>
                </a:solidFill>
                <a:latin typeface="Plus Jakarta Sans"/>
              </a:rPr>
              <a:t>dominio público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81160" y="3182112"/>
            <a:ext cx="2011680" cy="1042415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81160" y="3182112"/>
            <a:ext cx="73152" cy="1042415"/>
          </a:xfrm>
          <a:prstGeom prst="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0616" y="3346704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6150F"/>
                </a:solidFill>
                <a:latin typeface="Plus Jakarta Sans"/>
              </a:rPr>
              <a:t>RBAC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0616" y="3794760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46F65"/>
                </a:solidFill>
                <a:latin typeface="Plus Jakarta Sans"/>
              </a:rPr>
              <a:t>sesiones por rol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81160" y="4443984"/>
            <a:ext cx="2011680" cy="1042415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81160" y="4443984"/>
            <a:ext cx="73152" cy="1042415"/>
          </a:xfrm>
          <a:prstGeom prst="rect">
            <a:avLst/>
          </a:prstGeom>
          <a:solidFill>
            <a:srgbClr val="914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0616" y="4608576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6150F"/>
                </a:solidFill>
                <a:latin typeface="Plus Jakarta Sans"/>
              </a:rPr>
              <a:t>WAL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0616" y="5056632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46F65"/>
                </a:solidFill>
                <a:latin typeface="Plus Jakarta Sans"/>
              </a:rPr>
              <a:t>escrituras confiables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D8D0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30352" y="6547104"/>
            <a:ext cx="4023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46F65"/>
                </a:solidFill>
                <a:latin typeface="Plus Jakarta Sans"/>
              </a:rPr>
              <a:t>MiFlota  ·  Web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54710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746F65"/>
                </a:solidFill>
                <a:latin typeface="Plus Jakarta 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5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347472" cy="347472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8620"/>
            <a:ext cx="347472" cy="3383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FFFDF8"/>
                </a:solidFill>
                <a:latin typeface="Plus Jakarta Sans"/>
              </a:rPr>
              <a:t>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3474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E8A13A"/>
                </a:solidFill>
                <a:latin typeface="Aptos Display"/>
              </a:rPr>
              <a:t>05 ·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8046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FFFDF8"/>
                </a:solidFill>
                <a:latin typeface="Plus Jakarta Sans"/>
              </a:rPr>
              <a:t>La próxima decisión está a un clic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572768"/>
            <a:ext cx="8046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F7DCA8"/>
                </a:solidFill>
                <a:latin typeface="Plus Jakarta Sans"/>
              </a:rPr>
              <a:t>MiFlota Web hace visible lo importante para que el equipo actúe.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3891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F7DCA8"/>
                </a:solidFill>
                <a:latin typeface="Plus Jakarta San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40280"/>
            <a:ext cx="5486400" cy="2423160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578608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8A5D16"/>
                </a:solidFill>
                <a:latin typeface="Aptos Display"/>
              </a:rPr>
              <a:t>RECORRIDO SUGERIDO</a:t>
            </a:r>
          </a:p>
        </p:txBody>
      </p:sp>
      <p:sp>
        <p:nvSpPr>
          <p:cNvPr id="10" name="Oval 9"/>
          <p:cNvSpPr/>
          <p:nvPr/>
        </p:nvSpPr>
        <p:spPr>
          <a:xfrm>
            <a:off x="1024128" y="3118103"/>
            <a:ext cx="91440" cy="91440"/>
          </a:xfrm>
          <a:prstGeom prst="ellipse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035808"/>
            <a:ext cx="44988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6150F"/>
                </a:solidFill>
                <a:latin typeface="Plus Jakarta Sans"/>
              </a:rPr>
              <a:t>Abrir Resumen y detectar una alerta.</a:t>
            </a:r>
          </a:p>
        </p:txBody>
      </p:sp>
      <p:sp>
        <p:nvSpPr>
          <p:cNvPr id="12" name="Oval 11"/>
          <p:cNvSpPr/>
          <p:nvPr/>
        </p:nvSpPr>
        <p:spPr>
          <a:xfrm>
            <a:off x="1024128" y="3547872"/>
            <a:ext cx="91440" cy="91440"/>
          </a:xfrm>
          <a:prstGeom prst="ellipse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465576"/>
            <a:ext cx="44988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6150F"/>
                </a:solidFill>
                <a:latin typeface="Plus Jakarta Sans"/>
              </a:rPr>
              <a:t>Entrar al vehículo o chofer involucrado.</a:t>
            </a:r>
          </a:p>
        </p:txBody>
      </p:sp>
      <p:sp>
        <p:nvSpPr>
          <p:cNvPr id="14" name="Oval 13"/>
          <p:cNvSpPr/>
          <p:nvPr/>
        </p:nvSpPr>
        <p:spPr>
          <a:xfrm>
            <a:off x="1024128" y="3977639"/>
            <a:ext cx="91440" cy="91440"/>
          </a:xfrm>
          <a:prstGeom prst="ellipse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895344"/>
            <a:ext cx="44988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6150F"/>
                </a:solidFill>
                <a:latin typeface="Plus Jakarta Sans"/>
              </a:rPr>
              <a:t>Registrar el cobro y exportar el reporte.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1700784"/>
            <a:ext cx="4297680" cy="3886200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04888" y="2011680"/>
            <a:ext cx="4078224" cy="3465576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59752" y="1810512"/>
            <a:ext cx="82296" cy="82296"/>
          </a:xfrm>
          <a:prstGeom prst="ellipse">
            <a:avLst/>
          </a:prstGeom>
          <a:solidFill>
            <a:srgbClr val="914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06056" y="1810512"/>
            <a:ext cx="82296" cy="82296"/>
          </a:xfrm>
          <a:prstGeom prst="ellipse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52360" y="1810512"/>
            <a:ext cx="82296" cy="82296"/>
          </a:xfrm>
          <a:prstGeom prst="ellipse">
            <a:avLst/>
          </a:prstGeom>
          <a:solidFill>
            <a:srgbClr val="25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80" y="1769364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F7DCA8"/>
                </a:solidFill>
                <a:latin typeface="Plus Jakarta Sans"/>
              </a:rPr>
              <a:t>miflota / panel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04888" y="2011680"/>
            <a:ext cx="1152144" cy="3465576"/>
          </a:xfrm>
          <a:prstGeom prst="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96912" y="2231136"/>
            <a:ext cx="265176" cy="265176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6912" y="2235708"/>
            <a:ext cx="265176" cy="25603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16150F"/>
                </a:solidFill>
                <a:latin typeface="Plus Jakarta Sans"/>
              </a:rPr>
              <a:t>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05472" y="2697480"/>
            <a:ext cx="932688" cy="256032"/>
          </a:xfrm>
          <a:prstGeom prst="roundRect">
            <a:avLst/>
          </a:prstGeom>
          <a:solidFill>
            <a:srgbClr val="25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24344" y="2734056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16150F"/>
                </a:solidFill>
                <a:latin typeface="Plus Jakarta Sans"/>
              </a:rPr>
              <a:t>Resumen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24344" y="3127248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F4F0E8"/>
                </a:solidFill>
                <a:latin typeface="Plus Jakarta Sans"/>
              </a:rPr>
              <a:t>Flota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24344" y="3520440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F4F0E8"/>
                </a:solidFill>
                <a:latin typeface="Plus Jakarta Sans"/>
              </a:rPr>
              <a:t>Choferes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24344" y="3913632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F4F0E8"/>
                </a:solidFill>
                <a:latin typeface="Plus Jakarta Sans"/>
              </a:rPr>
              <a:t>Alertas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24344" y="4306824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F4F0E8"/>
                </a:solidFill>
                <a:latin typeface="Plus Jakarta Sans"/>
              </a:rPr>
              <a:t>Reportes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2231136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6150F"/>
                </a:solidFill>
                <a:latin typeface="Plus Jakarta Sans"/>
              </a:rPr>
              <a:t>Cobros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2505456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46F65"/>
                </a:solidFill>
                <a:latin typeface="Plus Jakarta Sans"/>
              </a:rPr>
              <a:t>Actualizado hace 2 min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03920" y="2798064"/>
            <a:ext cx="1316736" cy="1042415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2798064"/>
            <a:ext cx="73152" cy="1042415"/>
          </a:xfrm>
          <a:prstGeom prst="rect">
            <a:avLst/>
          </a:prstGeom>
          <a:solidFill>
            <a:srgbClr val="25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23376" y="2962656"/>
            <a:ext cx="9966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6150F"/>
                </a:solidFill>
                <a:latin typeface="Plus Jakarta Sans"/>
              </a:rPr>
              <a:t>$ 18.4M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23376" y="3410712"/>
            <a:ext cx="9966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46F65"/>
                </a:solidFill>
                <a:latin typeface="Plus Jakarta Sans"/>
              </a:rPr>
              <a:t>neto del mes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21240" y="2798064"/>
            <a:ext cx="1316736" cy="1042415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21240" y="2798064"/>
            <a:ext cx="73152" cy="1042415"/>
          </a:xfrm>
          <a:prstGeom prst="rect">
            <a:avLst/>
          </a:prstGeom>
          <a:solidFill>
            <a:srgbClr val="25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40696" y="2962656"/>
            <a:ext cx="9966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6150F"/>
                </a:solidFill>
                <a:latin typeface="Plus Jakarta Sans"/>
              </a:rP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0696" y="3410712"/>
            <a:ext cx="9966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46F65"/>
                </a:solidFill>
                <a:latin typeface="Plus Jakarta Sans"/>
              </a:rPr>
              <a:t>vehículos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338560" y="2798064"/>
            <a:ext cx="1024128" cy="1042415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338560" y="2798064"/>
            <a:ext cx="73152" cy="1042415"/>
          </a:xfrm>
          <a:prstGeom prst="rect">
            <a:avLst/>
          </a:prstGeom>
          <a:solidFill>
            <a:srgbClr val="914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558016" y="2962656"/>
            <a:ext cx="7040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6150F"/>
                </a:solidFill>
                <a:latin typeface="Plus Jakarta Sans"/>
              </a:rPr>
              <a:t>86%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558016" y="3410712"/>
            <a:ext cx="7040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746F65"/>
                </a:solidFill>
                <a:latin typeface="Plus Jakarta Sans"/>
              </a:rPr>
              <a:t>cobrado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03920" y="4078224"/>
            <a:ext cx="2560320" cy="121615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68512" y="4242816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6150F"/>
                </a:solidFill>
                <a:latin typeface="Plus Jakarta Sans"/>
              </a:rPr>
              <a:t>Ingresos vs. gastos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8714232" y="4608576"/>
            <a:ext cx="338328" cy="310896"/>
          </a:xfrm>
          <a:prstGeom prst="line">
            <a:avLst/>
          </a:prstGeom>
          <a:ln w="25400">
            <a:solidFill>
              <a:srgbClr val="256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052560" y="4608576"/>
            <a:ext cx="365760" cy="155448"/>
          </a:xfrm>
          <a:prstGeom prst="line">
            <a:avLst/>
          </a:prstGeom>
          <a:ln w="25400">
            <a:solidFill>
              <a:srgbClr val="256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9418320" y="4425696"/>
            <a:ext cx="338328" cy="338328"/>
          </a:xfrm>
          <a:prstGeom prst="line">
            <a:avLst/>
          </a:prstGeom>
          <a:ln w="25400">
            <a:solidFill>
              <a:srgbClr val="256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756648" y="4425696"/>
            <a:ext cx="356616" cy="164592"/>
          </a:xfrm>
          <a:prstGeom prst="line">
            <a:avLst/>
          </a:prstGeom>
          <a:ln w="25400">
            <a:solidFill>
              <a:srgbClr val="256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0113264" y="4224528"/>
            <a:ext cx="384048" cy="365760"/>
          </a:xfrm>
          <a:prstGeom prst="line">
            <a:avLst/>
          </a:prstGeom>
          <a:ln w="25400">
            <a:solidFill>
              <a:srgbClr val="256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497312" y="4224528"/>
            <a:ext cx="384048" cy="137160"/>
          </a:xfrm>
          <a:prstGeom prst="line">
            <a:avLst/>
          </a:prstGeom>
          <a:ln w="25400">
            <a:solidFill>
              <a:srgbClr val="256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8677656" y="4882896"/>
            <a:ext cx="73152" cy="73152"/>
          </a:xfrm>
          <a:prstGeom prst="ellipse">
            <a:avLst/>
          </a:prstGeom>
          <a:solidFill>
            <a:srgbClr val="25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015984" y="4572000"/>
            <a:ext cx="73152" cy="73152"/>
          </a:xfrm>
          <a:prstGeom prst="ellipse">
            <a:avLst/>
          </a:prstGeom>
          <a:solidFill>
            <a:srgbClr val="25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381744" y="4727448"/>
            <a:ext cx="73152" cy="73152"/>
          </a:xfrm>
          <a:prstGeom prst="ellipse">
            <a:avLst/>
          </a:prstGeom>
          <a:solidFill>
            <a:srgbClr val="25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720072" y="4389120"/>
            <a:ext cx="73152" cy="73152"/>
          </a:xfrm>
          <a:prstGeom prst="ellipse">
            <a:avLst/>
          </a:prstGeom>
          <a:solidFill>
            <a:srgbClr val="25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076688" y="4553712"/>
            <a:ext cx="73152" cy="73152"/>
          </a:xfrm>
          <a:prstGeom prst="ellipse">
            <a:avLst/>
          </a:prstGeom>
          <a:solidFill>
            <a:srgbClr val="25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460736" y="4187952"/>
            <a:ext cx="73152" cy="73152"/>
          </a:xfrm>
          <a:prstGeom prst="ellipse">
            <a:avLst/>
          </a:prstGeom>
          <a:solidFill>
            <a:srgbClr val="25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844784" y="4325112"/>
            <a:ext cx="73152" cy="73152"/>
          </a:xfrm>
          <a:prstGeom prst="ellipse">
            <a:avLst/>
          </a:prstGeom>
          <a:solidFill>
            <a:srgbClr val="25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1219688" y="4078224"/>
            <a:ext cx="1143000" cy="121615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384280" y="4242816"/>
            <a:ext cx="7132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6150F"/>
                </a:solidFill>
                <a:latin typeface="Plus Jakarta Sans"/>
              </a:rPr>
              <a:t>Alertas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365992" y="448970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914531"/>
                </a:solidFill>
                <a:latin typeface="Plus Jakarta Sans"/>
              </a:rPr>
              <a:t>03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384280" y="4828032"/>
            <a:ext cx="822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30" b="0" i="0">
                <a:solidFill>
                  <a:srgbClr val="746F65"/>
                </a:solidFill>
                <a:latin typeface="Plus Jakarta Sans"/>
              </a:rPr>
              <a:t>requieren acción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3232" y="5321808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7DCA8"/>
                </a:solidFill>
                <a:latin typeface="Plus Jakarta Sans"/>
              </a:rPr>
              <a:t>De la señal al movimiento registrado.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D8D0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30352" y="6547104"/>
            <a:ext cx="4023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46F65"/>
                </a:solidFill>
                <a:latin typeface="Plus Jakarta Sans"/>
              </a:rPr>
              <a:t>MiFlota  ·  Web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64240" y="654710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746F65"/>
                </a:solidFill>
                <a:latin typeface="Plus Jakarta Sans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